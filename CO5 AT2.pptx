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8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7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6300" y="6448425"/>
            <a:ext cx="2819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D6E63"/>
                </a:solidFill>
                <a:latin typeface="Lato"/>
              </a:rPr>
              <a:t>SAVEETHA SCHOOL OF ENGINEERING</a:t>
            </a:r>
            <a:endParaRPr sz="1050" b="1" i="0" u="none">
              <a:solidFill>
                <a:srgbClr val="8D6E63"/>
              </a:solidFill>
              <a:latin typeface="Lato"/>
            </a:endParaRPr>
          </a:p>
        </p:txBody>
      </p:sp>
      <p:grpSp>
        <p:nvGrpSpPr>
          <p:cNvPr id="19" name="object 2"/>
          <p:cNvGrpSpPr/>
          <p:nvPr/>
        </p:nvGrpSpPr>
        <p:grpSpPr>
          <a:xfrm>
            <a:off x="314960" y="134620"/>
            <a:ext cx="11630660" cy="1877060"/>
            <a:chOff x="295910" y="326390"/>
            <a:chExt cx="11630660" cy="1877060"/>
          </a:xfrm>
        </p:grpSpPr>
        <p:sp>
          <p:nvSpPr>
            <p:cNvPr id="20" name="object 3"/>
            <p:cNvSpPr/>
            <p:nvPr/>
          </p:nvSpPr>
          <p:spPr>
            <a:xfrm>
              <a:off x="314960" y="345440"/>
              <a:ext cx="11592560" cy="1838960"/>
            </a:xfrm>
            <a:custGeom>
              <a:avLst/>
              <a:gdLst/>
              <a:ahLst/>
              <a:cxnLst/>
              <a:rect l="l" t="t" r="r" b="b"/>
              <a:pathLst>
                <a:path w="11592560" h="1838960">
                  <a:moveTo>
                    <a:pt x="0" y="0"/>
                  </a:moveTo>
                  <a:lnTo>
                    <a:pt x="11592560" y="0"/>
                  </a:lnTo>
                  <a:lnTo>
                    <a:pt x="11592560" y="1838960"/>
                  </a:lnTo>
                  <a:lnTo>
                    <a:pt x="0" y="183896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0309" y="507709"/>
              <a:ext cx="10972800" cy="1181038"/>
            </a:xfrm>
            <a:prstGeom prst="rect">
              <a:avLst/>
            </a:prstGeom>
          </p:spPr>
        </p:pic>
      </p:grpSp>
      <p:sp>
        <p:nvSpPr>
          <p:cNvPr id="22" name="Text Box 21"/>
          <p:cNvSpPr txBox="1"/>
          <p:nvPr/>
        </p:nvSpPr>
        <p:spPr>
          <a:xfrm>
            <a:off x="2623820" y="3027680"/>
            <a:ext cx="66376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2800" b="1">
                <a:solidFill>
                  <a:srgbClr val="4E342E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 to IoT and Smart Systems</a:t>
            </a:r>
            <a:endParaRPr lang="en-GB" altLang="en-US" sz="2800" b="1">
              <a:solidFill>
                <a:srgbClr val="4E342E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3" name="object 5"/>
          <p:cNvSpPr txBox="1"/>
          <p:nvPr/>
        </p:nvSpPr>
        <p:spPr>
          <a:xfrm>
            <a:off x="1442043" y="4060576"/>
            <a:ext cx="9509759" cy="171323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82550">
              <a:lnSpc>
                <a:spcPts val="3280"/>
              </a:lnSpc>
              <a:spcBef>
                <a:spcPts val="60"/>
              </a:spcBef>
              <a:tabLst>
                <a:tab pos="2689860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                              </a:t>
            </a:r>
            <a:endParaRPr lang="en-IN" sz="2000" spc="-1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82550">
              <a:lnSpc>
                <a:spcPts val="3280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IN" sz="2000" spc="-10" dirty="0">
                <a:latin typeface="Times New Roman" panose="02020603050405020304"/>
                <a:cs typeface="Times New Roman" panose="02020603050405020304"/>
              </a:rPr>
              <a:t>                        Balaji . K                          </a:t>
            </a:r>
            <a:r>
              <a:rPr lang="en-IN" sz="2000" spc="-10">
                <a:latin typeface="Times New Roman" panose="02020603050405020304"/>
                <a:cs typeface="Times New Roman" panose="02020603050405020304"/>
              </a:rPr>
              <a:t>                       </a:t>
            </a:r>
            <a:r>
              <a:rPr lang="en-IN" sz="2000" spc="-10" smtClean="0">
                <a:latin typeface="Times New Roman" panose="02020603050405020304"/>
                <a:cs typeface="Times New Roman" panose="02020603050405020304"/>
              </a:rPr>
              <a:t>Subject</a:t>
            </a:r>
            <a:r>
              <a:rPr lang="en-IN" sz="2000" spc="-10">
                <a:latin typeface="Times New Roman" panose="02020603050405020304"/>
                <a:cs typeface="Times New Roman" panose="02020603050405020304"/>
              </a:rPr>
              <a:t>: </a:t>
            </a:r>
            <a:r>
              <a:rPr lang="en-IN" sz="2000" spc="-10" smtClean="0">
                <a:latin typeface="Times New Roman" panose="02020603050405020304"/>
                <a:cs typeface="Times New Roman" panose="02020603050405020304"/>
              </a:rPr>
              <a:t>Software Engineering</a:t>
            </a:r>
            <a:endParaRPr lang="en-IN" sz="2000" spc="-10" dirty="0">
              <a:latin typeface="Times New Roman" panose="02020603050405020304"/>
              <a:cs typeface="Times New Roman" panose="02020603050405020304"/>
            </a:endParaRPr>
          </a:p>
          <a:p>
            <a:pPr marL="82550">
              <a:lnSpc>
                <a:spcPts val="3280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IN" sz="2000" spc="-10">
                <a:latin typeface="Times New Roman" panose="02020603050405020304"/>
                <a:cs typeface="Times New Roman" panose="02020603050405020304"/>
              </a:rPr>
              <a:t>                    </a:t>
            </a:r>
            <a:r>
              <a:rPr lang="en-IN" sz="2000" spc="-10" smtClean="0">
                <a:latin typeface="Times New Roman" panose="02020603050405020304"/>
                <a:cs typeface="Times New Roman" panose="02020603050405020304"/>
              </a:rPr>
              <a:t>    192511404                                               </a:t>
            </a:r>
            <a:r>
              <a:rPr lang="en-IN" sz="2000" dirty="0">
                <a:latin typeface="Times New Roman" panose="02020603050405020304"/>
                <a:cs typeface="Times New Roman" panose="02020603050405020304"/>
                <a:sym typeface="+mn-ea"/>
              </a:rPr>
              <a:t>Subject</a:t>
            </a:r>
            <a:r>
              <a:rPr lang="en-IN" sz="20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IN" sz="2000" dirty="0">
                <a:latin typeface="Times New Roman" panose="02020603050405020304"/>
                <a:cs typeface="Times New Roman" panose="02020603050405020304"/>
                <a:sym typeface="+mn-ea"/>
              </a:rPr>
              <a:t>code</a:t>
            </a:r>
            <a:r>
              <a:rPr lang="en-IN" sz="2000" spc="-15">
                <a:latin typeface="Times New Roman" panose="02020603050405020304"/>
                <a:cs typeface="Times New Roman" panose="02020603050405020304"/>
                <a:sym typeface="+mn-ea"/>
              </a:rPr>
              <a:t>: </a:t>
            </a:r>
            <a:r>
              <a:rPr lang="en-IN" sz="2000" spc="-15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CSA1017</a:t>
            </a:r>
            <a:r>
              <a:rPr lang="en-US" sz="2000" spc="-10" smtClean="0">
                <a:latin typeface="Times New Roman" panose="02020603050405020304"/>
                <a:cs typeface="Times New Roman" panose="02020603050405020304"/>
              </a:rPr>
              <a:t>                      </a:t>
            </a:r>
            <a:endParaRPr lang="en-US" sz="2000" spc="-10" dirty="0">
              <a:latin typeface="Times New Roman" panose="02020603050405020304"/>
              <a:cs typeface="Times New Roman" panose="02020603050405020304"/>
            </a:endParaRPr>
          </a:p>
          <a:p>
            <a:pPr marL="82550">
              <a:lnSpc>
                <a:spcPts val="3280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IN" sz="2000" spc="-10" dirty="0">
                <a:latin typeface="Times New Roman" panose="02020603050405020304"/>
                <a:cs typeface="Times New Roman" panose="02020603050405020304"/>
              </a:rPr>
              <a:t>                      </a:t>
            </a:r>
            <a:endParaRPr lang="en-US" sz="2000" spc="-1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0" y="1738312"/>
            <a:ext cx="5238750" cy="4191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334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4E342E"/>
                </a:solidFill>
                <a:latin typeface="Playfair Display"/>
              </a:rPr>
              <a:t>1. Introduction to IoT and Smart Systems</a:t>
            </a:r>
            <a:endParaRPr sz="3150" b="1" i="0" u="none">
              <a:solidFill>
                <a:srgbClr val="4E342E"/>
              </a:solidFill>
              <a:latin typeface="Playfair Display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D7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1100" y="6448425"/>
            <a:ext cx="2819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D6E63"/>
                </a:solidFill>
                <a:latin typeface="Lato"/>
              </a:rPr>
              <a:t>SAVEETHA SCHOOL OF ENGINEERING</a:t>
            </a:r>
            <a:endParaRPr sz="1050" b="1" i="0" u="none">
              <a:solidFill>
                <a:srgbClr val="8D6E63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7750" y="1843236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Vast network of physical objects embedded with smart sensors.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7750" y="2639466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Connects devices to seamlessly exchange data over the internet.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7750" y="3435697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Bridges the gap between the physical and digital worlds perfectly.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7750" y="4231927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Transforms ordinary everyday items into highly intelligent assets.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7750" y="5028158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Enables autonomous decision-making in real-time environments.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1766887"/>
            <a:ext cx="5181600" cy="413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1811"/>
            <a:ext cx="2857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68041"/>
            <a:ext cx="2857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4272"/>
            <a:ext cx="2571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60502"/>
            <a:ext cx="1714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56733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4E342E"/>
                </a:solidFill>
                <a:latin typeface="Playfair Display"/>
              </a:rPr>
              <a:t>2. Need and Motivation</a:t>
            </a:r>
            <a:endParaRPr sz="3150" b="1" i="0" u="none">
              <a:solidFill>
                <a:srgbClr val="4E342E"/>
              </a:solidFill>
              <a:latin typeface="Playfai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D7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01100" y="6448425"/>
            <a:ext cx="2819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D6E63"/>
                </a:solidFill>
                <a:latin typeface="Lato"/>
              </a:rPr>
              <a:t>SAVEETHA SCHOOL OF ENGINEERING</a:t>
            </a:r>
            <a:endParaRPr sz="1050" b="1" i="0" u="none">
              <a:solidFill>
                <a:srgbClr val="8D6E63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3837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Exponential global demand for industrial automation and efficiency.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876550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Absolute necessity for real-time monitoring and data analytics.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351472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Strong desire to reduce human intervention in routine daily tasks.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4152900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Critical push for optimized global resource and energy management.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479107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Enhancing overall quality of human life through smart conveniences.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262187"/>
            <a:ext cx="2667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900362"/>
            <a:ext cx="26670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38537"/>
            <a:ext cx="333375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76712"/>
            <a:ext cx="26670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14887"/>
            <a:ext cx="30480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0" y="1738312"/>
            <a:ext cx="5238750" cy="4191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334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4E342E"/>
                </a:solidFill>
                <a:latin typeface="Playfair Display"/>
              </a:rPr>
              <a:t>3. Working Principle &amp; Architecture</a:t>
            </a:r>
            <a:endParaRPr sz="3150" b="1" i="0" u="none">
              <a:solidFill>
                <a:srgbClr val="4E342E"/>
              </a:solidFill>
              <a:latin typeface="Playfair Display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D7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1100" y="6448425"/>
            <a:ext cx="2819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D6E63"/>
                </a:solidFill>
                <a:latin typeface="Lato"/>
              </a:rPr>
              <a:t>SAVEETHA SCHOOL OF ENGINEERING</a:t>
            </a:r>
            <a:endParaRPr sz="1050" b="1" i="0" u="none">
              <a:solidFill>
                <a:srgbClr val="8D6E63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7750" y="1843236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Sensors continuously collect raw data from the surrounding environment.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7750" y="2639466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Connectivity layers transmit this data securely to cloud platforms.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7750" y="3435697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Data processing engines analyze incoming information instantly.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7750" y="4231927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User interfaces provide actionable insights and remote controls.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7750" y="5028158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Actuators execute physical actions strictly based on system commands.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1766887"/>
            <a:ext cx="5181600" cy="413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1811"/>
            <a:ext cx="257175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68041"/>
            <a:ext cx="2857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4272"/>
            <a:ext cx="2857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60502"/>
            <a:ext cx="1714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56733"/>
            <a:ext cx="2000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4E342E"/>
                </a:solidFill>
                <a:latin typeface="Playfair Display"/>
              </a:rPr>
              <a:t>4. Key Components and Technologies</a:t>
            </a:r>
            <a:endParaRPr sz="3150" b="1" i="0" u="none">
              <a:solidFill>
                <a:srgbClr val="4E342E"/>
              </a:solidFill>
              <a:latin typeface="Playfai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D7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01100" y="6448425"/>
            <a:ext cx="2819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D6E63"/>
                </a:solidFill>
                <a:latin typeface="Lato"/>
              </a:rPr>
              <a:t>SAVEETHA SCHOOL OF ENGINEERING</a:t>
            </a:r>
            <a:endParaRPr sz="1050" b="1" i="0" u="none">
              <a:solidFill>
                <a:srgbClr val="8D6E63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3837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Advanced precision sensors and responsive physical actuation devices.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876550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Highly reliable connectivity protocols including Wi-Fi, Bluetooth, and 5G.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351472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Secure cloud computing and localized edge processing infrastructure.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4152900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Machine learning algorithms strictly tailored for predictive data analytics.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479107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Intuitive user dashboards and cross-platform mobile applications.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262187"/>
            <a:ext cx="2667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900362"/>
            <a:ext cx="33337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38537"/>
            <a:ext cx="26670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76712"/>
            <a:ext cx="26670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14887"/>
            <a:ext cx="26670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0" y="1738312"/>
            <a:ext cx="5238750" cy="4191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334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4E342E"/>
                </a:solidFill>
                <a:latin typeface="Playfair Display"/>
              </a:rPr>
              <a:t>5. Applications &amp; Real-World Use Cases</a:t>
            </a:r>
            <a:endParaRPr sz="3150" b="1" i="0" u="none">
              <a:solidFill>
                <a:srgbClr val="4E342E"/>
              </a:solidFill>
              <a:latin typeface="Playfair Display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D7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1100" y="6448425"/>
            <a:ext cx="2819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D6E63"/>
                </a:solidFill>
                <a:latin typeface="Lato"/>
              </a:rPr>
              <a:t>SAVEETHA SCHOOL OF ENGINEERING</a:t>
            </a:r>
            <a:endParaRPr sz="1050" b="1" i="0" u="none">
              <a:solidFill>
                <a:srgbClr val="8D6E63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7750" y="1843236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Smart homes flawlessly optimizing lighting, security, and climate.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7750" y="2639466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Wearable health monitors proactively tracking patient vital signs.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7750" y="3435697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Industrial IoT actively enabling predictive factory maintenance.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7750" y="4231927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Smart agriculture utilizing precision soil moisture sensing networks.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7750" y="5028158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Connected smart cities dynamically managing traffic and public resources.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1766887"/>
            <a:ext cx="5181600" cy="413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1811"/>
            <a:ext cx="2857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68041"/>
            <a:ext cx="2286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4272"/>
            <a:ext cx="2571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60502"/>
            <a:ext cx="2857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56733"/>
            <a:ext cx="2857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4E342E"/>
                </a:solidFill>
                <a:latin typeface="Playfair Display"/>
              </a:rPr>
              <a:t>6. Advantages and Limitations</a:t>
            </a:r>
            <a:endParaRPr sz="3150" b="1" i="0" u="none">
              <a:solidFill>
                <a:srgbClr val="4E342E"/>
              </a:solidFill>
              <a:latin typeface="Playfai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D7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01100" y="6448425"/>
            <a:ext cx="2819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D6E63"/>
                </a:solidFill>
                <a:latin typeface="Lato"/>
              </a:rPr>
              <a:t>SAVEETHA SCHOOL OF ENGINEERING</a:t>
            </a:r>
            <a:endParaRPr sz="1050" b="1" i="0" u="none">
              <a:solidFill>
                <a:srgbClr val="8D6E63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2329904"/>
            <a:ext cx="550068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5D4037"/>
                </a:solidFill>
                <a:latin typeface="Playfair Display"/>
              </a:rPr>
              <a:t>Key Advantages</a:t>
            </a:r>
            <a:endParaRPr sz="2250" b="1" i="0" u="none">
              <a:solidFill>
                <a:srgbClr val="5D4037"/>
              </a:solidFill>
              <a:latin typeface="Playfair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81750" y="2329904"/>
            <a:ext cx="550068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5D4037"/>
                </a:solidFill>
                <a:latin typeface="Playfair Display"/>
              </a:rPr>
              <a:t>Major Limitations</a:t>
            </a:r>
            <a:endParaRPr sz="2250" b="1" i="0" u="none">
              <a:solidFill>
                <a:srgbClr val="5D4037"/>
              </a:solidFill>
              <a:latin typeface="Playfair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7750" y="2949029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Drastically increases operational efficiency and overall productivity.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7750" y="3745259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Enables data-driven, precise, and instantaneous decision-making.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7750" y="4541490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Significantly reduces long-term operational costs and manual labor.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0" y="2949029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Presents significant security and sensitive data privacy vulnerabilities.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3745259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Exhibits an absolute dependency on continuous internet connectivity.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4541490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Faces high complexity in standardizing diverse hardware protocols.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977604"/>
            <a:ext cx="25717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773834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70065"/>
            <a:ext cx="22860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977604"/>
            <a:ext cx="2286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3773834"/>
            <a:ext cx="22860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4570065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0" y="1738312"/>
            <a:ext cx="5238750" cy="4191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334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4E342E"/>
                </a:solidFill>
                <a:latin typeface="Playfair Display"/>
              </a:rPr>
              <a:t>7. Recent Developments and Trends</a:t>
            </a:r>
            <a:endParaRPr sz="3150" b="1" i="0" u="none">
              <a:solidFill>
                <a:srgbClr val="4E342E"/>
              </a:solidFill>
              <a:latin typeface="Playfair Display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D7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1100" y="6448425"/>
            <a:ext cx="2819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D6E63"/>
                </a:solidFill>
                <a:latin typeface="Lato"/>
              </a:rPr>
              <a:t>SAVEETHA SCHOOL OF ENGINEERING</a:t>
            </a:r>
            <a:endParaRPr sz="1050" b="1" i="0" u="none">
              <a:solidFill>
                <a:srgbClr val="8D6E63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7750" y="1843236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Seamless integration of Artificial Intelligence (AIoT) for autonomy.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7750" y="2639466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Rapid rise of Edge computing to drastically reduce network latency.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7750" y="3435697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Massive expansion of 5G networks enhancing data transmission speed.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7750" y="4231927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Accelerated adoption of Digital Twins for virtual system simulation.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7750" y="5028158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Implementation of secure blockchain for decentralized IoT transactions.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1766887"/>
            <a:ext cx="5181600" cy="413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1811"/>
            <a:ext cx="2857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68041"/>
            <a:ext cx="2286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4272"/>
            <a:ext cx="2571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60502"/>
            <a:ext cx="2857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56733"/>
            <a:ext cx="2857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4E342E"/>
                </a:solidFill>
                <a:latin typeface="Playfair Display"/>
              </a:rPr>
              <a:t>8. Challenges and Future Scope</a:t>
            </a:r>
            <a:endParaRPr sz="3150" b="1" i="0" u="none">
              <a:solidFill>
                <a:srgbClr val="4E342E"/>
              </a:solidFill>
              <a:latin typeface="Playfai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D7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01100" y="6448425"/>
            <a:ext cx="2819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D6E63"/>
                </a:solidFill>
                <a:latin typeface="Lato"/>
              </a:rPr>
              <a:t>SAVEETHA SCHOOL OF ENGINEERING</a:t>
            </a:r>
            <a:endParaRPr sz="1050" b="1" i="0" u="none">
              <a:solidFill>
                <a:srgbClr val="8D6E63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3837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Mitigating increasingly severe cyberattack risks on connected edge devices.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876550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Structuring and managing the massive volumes of generated big data.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351472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Establishing universal interoperability standards across rival manufacturers.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4152900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Expanding robust IoT capabilities into remote and underserved geographic areas.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479107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Developing highly energy-efficient and completely self-powering sensors.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262187"/>
            <a:ext cx="2667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900362"/>
            <a:ext cx="23812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38537"/>
            <a:ext cx="333375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76712"/>
            <a:ext cx="30480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14887"/>
            <a:ext cx="30480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0" y="1738312"/>
            <a:ext cx="5238750" cy="4191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334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4E342E"/>
                </a:solidFill>
                <a:latin typeface="Playfair Display"/>
              </a:rPr>
              <a:t>9. Case Study: Smart City Barcelona</a:t>
            </a:r>
            <a:endParaRPr sz="3150" b="1" i="0" u="none">
              <a:solidFill>
                <a:srgbClr val="4E342E"/>
              </a:solidFill>
              <a:latin typeface="Playfair Display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D7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1100" y="6448425"/>
            <a:ext cx="2819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D6E63"/>
                </a:solidFill>
                <a:latin typeface="Lato"/>
              </a:rPr>
              <a:t>SAVEETHA SCHOOL OF ENGINEERING</a:t>
            </a:r>
            <a:endParaRPr sz="1050" b="1" i="0" u="none">
              <a:solidFill>
                <a:srgbClr val="8D6E63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7750" y="1843236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Deployed thousands of smart sensors across all urban infrastructure.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7750" y="2639466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Implemented intelligent street lighting to save massive energy costs.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7750" y="3435697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Utilized smart parking networks to successfully reduce traffic congestion.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7750" y="4231927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Continuously monitored environmental data for improved public health.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7750" y="5028158"/>
            <a:ext cx="476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E342E"/>
                </a:solidFill>
                <a:latin typeface="Lato"/>
              </a:rPr>
              <a:t>Saved millions annually while vastly enhancing general citizen services.</a:t>
            </a:r>
            <a:endParaRPr sz="1650" b="0" i="0" u="none">
              <a:solidFill>
                <a:srgbClr val="4E342E"/>
              </a:solidFill>
              <a:latin typeface="Lato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1766887"/>
            <a:ext cx="5181600" cy="413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1811"/>
            <a:ext cx="1714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68041"/>
            <a:ext cx="1714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4272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60502"/>
            <a:ext cx="2857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56733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4E342E"/>
                </a:solidFill>
                <a:latin typeface="Playfair Display"/>
              </a:rPr>
              <a:t>10. Conclusion and References</a:t>
            </a:r>
            <a:endParaRPr sz="3150" b="1" i="0" u="none">
              <a:solidFill>
                <a:srgbClr val="4E342E"/>
              </a:solidFill>
              <a:latin typeface="Playfai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D7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01100" y="6448425"/>
            <a:ext cx="2819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D6E63"/>
                </a:solidFill>
                <a:latin typeface="Lato"/>
              </a:rPr>
              <a:t>SAVEETHA SCHOOL OF ENGINEERING</a:t>
            </a:r>
            <a:endParaRPr sz="1050" b="1" i="0" u="none">
              <a:solidFill>
                <a:srgbClr val="8D6E63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3837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IoT fundamentally and permanently redefines human technological interaction.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876550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Unlocks completely unprecedented levels of convenience and industrial efficiency.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351472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Security and strict standardization remain the most critical hurdles today.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4152900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Reference: IEEE Internet of Things Journal published annual research papers.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4791075"/>
            <a:ext cx="104775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1875" b="0" i="0" u="none">
                <a:solidFill>
                  <a:srgbClr val="4E342E"/>
                </a:solidFill>
                <a:latin typeface="Lato"/>
              </a:rPr>
              <a:t>Reference: Global Smart City Implementation and Sustainability Reports (2025).</a:t>
            </a:r>
            <a:endParaRPr sz="1875" b="0" i="0" u="none">
              <a:solidFill>
                <a:srgbClr val="4E342E"/>
              </a:solidFill>
              <a:latin typeface="Lato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262187"/>
            <a:ext cx="238125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900362"/>
            <a:ext cx="23812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38537"/>
            <a:ext cx="26670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76712"/>
            <a:ext cx="30480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14887"/>
            <a:ext cx="26670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8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D4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4E342E"/>
                </a:solidFill>
                <a:latin typeface="Playfair Display"/>
              </a:rPr>
              <a:t>Image Sources</a:t>
            </a:r>
            <a:endParaRPr sz="3150" b="1" i="0" u="none">
              <a:solidFill>
                <a:srgbClr val="4E342E"/>
              </a:solidFill>
              <a:latin typeface="Playfai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D7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881187"/>
            <a:ext cx="1104900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70986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48138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2529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700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700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471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471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243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243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014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014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05263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2024062"/>
            <a:ext cx="9953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Lato"/>
              </a:rPr>
              <a:t>https://static.vecteezy.com/system/resources/previews/071/531/383/non_2x/smart-home-automation-system-control-panel-in-modern-living-room-interior-design-technology-concept-photo.jpeg</a:t>
            </a:r>
            <a:endParaRPr sz="975" b="0" i="0" u="none">
              <a:solidFill>
                <a:srgbClr val="000000"/>
              </a:solidFill>
              <a:latin typeface="Lat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66875" y="2376487"/>
            <a:ext cx="9953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www.vecteezy.com</a:t>
            </a:r>
            <a:endParaRPr sz="1200" b="0" i="0" u="none">
              <a:solidFill>
                <a:srgbClr val="4F46E5"/>
              </a:solidFill>
              <a:latin typeface="Lato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52737"/>
            <a:ext cx="1276350" cy="3619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900362"/>
            <a:ext cx="995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Lato"/>
              </a:rPr>
              <a:t>https://cdn.lantronix.com/wp-content/uploads/img/1657_G520_Top_Front_Right-scaled.jpg</a:t>
            </a:r>
            <a:endParaRPr sz="975" b="0" i="0" u="none">
              <a:solidFill>
                <a:srgbClr val="000000"/>
              </a:solidFill>
              <a:latin typeface="Lat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66875" y="3100387"/>
            <a:ext cx="9953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www.lantronix.com</a:t>
            </a:r>
            <a:endParaRPr sz="1200" b="0" i="0" u="none">
              <a:solidFill>
                <a:srgbClr val="4F46E5"/>
              </a:solidFill>
              <a:latin typeface="Lato"/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24262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671887"/>
            <a:ext cx="995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Lato"/>
              </a:rPr>
              <a:t>https://www.cropin.com/wp-content/uploads/2024/11/Smart-Farming-vs.-Precision-Agriculture.webp</a:t>
            </a:r>
            <a:endParaRPr sz="975" b="0" i="0" u="none">
              <a:solidFill>
                <a:srgbClr val="000000"/>
              </a:solidFill>
              <a:latin typeface="Lat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66875" y="3871912"/>
            <a:ext cx="9953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www.cropin.com</a:t>
            </a:r>
            <a:endParaRPr sz="1200" b="0" i="0" u="none">
              <a:solidFill>
                <a:srgbClr val="4F46E5"/>
              </a:solidFill>
              <a:latin typeface="Lato"/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95787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4443412"/>
            <a:ext cx="995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Lato"/>
              </a:rPr>
              <a:t>https://as1.ftcdn.net/v2/jpg/01/83/89/90/1000_F_183899060_NL5JKb4nKHDWR7VDCbKVlYvdmn1AieKv.jpg</a:t>
            </a:r>
            <a:endParaRPr sz="975" b="0" i="0" u="none">
              <a:solidFill>
                <a:srgbClr val="000000"/>
              </a:solidFill>
              <a:latin typeface="Lat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66875" y="4643437"/>
            <a:ext cx="9953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www.ukposters.co.uk</a:t>
            </a:r>
            <a:endParaRPr sz="1200" b="0" i="0" u="none">
              <a:solidFill>
                <a:srgbClr val="4F46E5"/>
              </a:solidFill>
              <a:latin typeface="Lato"/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167312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5214937"/>
            <a:ext cx="995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Lato"/>
              </a:rPr>
              <a:t>https://www.lonmark.org/wp-content/uploads/2020/02/Barcelona-Towers-144220973_3424x2284-scaled.jpeg</a:t>
            </a:r>
            <a:endParaRPr sz="975" b="0" i="0" u="none">
              <a:solidFill>
                <a:srgbClr val="000000"/>
              </a:solidFill>
              <a:latin typeface="Lato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66875" y="5414962"/>
            <a:ext cx="9953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www.lonmark.org</a:t>
            </a:r>
            <a:endParaRPr sz="1200" b="0" i="0" u="none">
              <a:solidFill>
                <a:srgbClr val="4F46E5"/>
              </a:solidFill>
              <a:latin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5241</Words>
  <Application>WPS Presentation</Application>
  <PresentationFormat>On-screen Show (4:3)</PresentationFormat>
  <Paragraphs>177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Playfair Display</vt:lpstr>
      <vt:lpstr>Segoe Print</vt:lpstr>
      <vt:lpstr>Lato</vt:lpstr>
      <vt:lpstr>Calibri</vt:lpstr>
      <vt:lpstr>Microsoft YaHei</vt:lpstr>
      <vt:lpstr>Arial Unicode MS</vt:lpstr>
      <vt:lpstr>Times New Roman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K.Balaji 9-D</cp:lastModifiedBy>
  <cp:revision>3</cp:revision>
  <dcterms:created xsi:type="dcterms:W3CDTF">2013-01-27T09:14:00Z</dcterms:created>
  <dcterms:modified xsi:type="dcterms:W3CDTF">2026-08-24T09:04:29Z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E31D6025559840CB8CF1639ED420ACBD_13</vt:lpwstr>
  </property>
  <property fmtid="{D5CDD505-2E9C-101B-9397-08002B2CF9AE}" pid="3" name="KSOProductBuildVer">
    <vt:lpwstr>2057-12.2.0.23206</vt:lpwstr>
  </property>
</Properties>
</file>